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23" autoAdjust="0"/>
  </p:normalViewPr>
  <p:slideViewPr>
    <p:cSldViewPr snapToGrid="0" snapToObjects="1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50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88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(320px)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65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1ACC4-740D-4E9B-975F-13A5EB5DF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407223-E79A-4456-9D8D-9580071A0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D4A2AA-A602-431B-BD2C-7C461EAB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3EE10C-DF4C-467D-A7C5-E2A56B85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5F58D-39F3-44AF-B360-59D3C990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8349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84891-BF23-4ABA-9D0E-D52212EF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11E68-DF26-4612-A0C6-4E7C00E65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40EC1C-B942-4D0F-8776-2C44340F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429C81-FDD7-4001-99D8-9A067952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CF9AD-669D-4EA2-9DB7-19A5B182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1229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FC30F-BB9A-4C3D-A16F-F69FA812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FA28BE-9468-4EA1-9DDE-23E647BB2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67670-7EB1-4F7D-AF06-A3E8FF23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7F6D96-B2F9-416B-82F2-B8A62202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1B998E-5AFD-4815-8166-6A0471A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0015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6E7A5-05CF-4748-BCEB-9A9EA9CB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B4AF0-0D4D-49ED-82A5-518257528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941DAE-45F2-483A-A425-A5AD6AD9D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6EF8BC-DA0D-42C7-BC4D-55762F8A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B5C54D-4343-452B-A8BF-794F1B6A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9206CB-E857-490D-B3AF-E5172227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7803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71BDC-441D-4018-B2FF-AA1934E9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849BA6-7F63-40A3-88BB-06B270FC5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8E9BF5-8BA2-4970-AF86-0652BFD3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8C7377-13A3-4CB2-8D00-5D62B13F9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F02A20-9E71-44E0-BFB8-7A2A73F32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339AD48-2ABE-44E1-8F34-9EFC7ABC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0F1219-4D4E-4DF0-934E-1A8D588E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3CE1B1-C055-46CF-9377-B8043DF1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7930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D0409-D9BC-4CDA-B4D1-3A4665FAB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2C0141-1EB7-49F2-8884-1F2793E3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8763E0-39D2-4D92-942A-671FF23C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F06671-ACBB-4ED1-AFD3-8CBE303D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6265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4BBBA5-D8F2-46A0-B6AF-AAF9F5B2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8F020A-F36F-4DED-B5C6-94F1C394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8134D8-B0E5-442F-8BAE-C4D19230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4954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F7814-3EAC-4B8C-9438-72D4C41E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E11534-43F4-4B21-8F4F-B3D8A1C3D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C2404F-8917-45BC-BF94-23DD2EA44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457B24-1456-4B6D-9784-5E4EDC4B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150291-25C0-43B1-A096-5AE9AF54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3524C7-3704-45A0-B273-EBB8F79C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0746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868C7-5353-4273-85A8-F6A5769E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B8CCD1-B214-4809-A696-670EAB24B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A23310-59D2-40C4-99A9-7391942D3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8B1D0B-0089-493E-B6B0-E9DFCCD8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FFF913-AA7B-47BE-985F-F451B904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87AC9E-37B6-4369-8DD3-EBBEB462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531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11C3A-FA86-4404-AE62-A5770DEB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59CAE3-6A0A-4AAA-8998-DFB088D3C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491E89-C8E6-4256-A000-85E6CBFB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8FB00-412A-49EA-B049-D0B69702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C0558A-9DCD-4B75-AED9-6CA11483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884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28A96A-C7E7-4D73-8CA7-5A23F4B51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4CDC8A-F8CB-4A62-99A7-E33A49873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BD1735-E446-4304-8F55-EF57B1A9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4803E2-A528-407E-9B60-0EDBD468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F28574-603E-4E6B-BB11-34EA4E11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4126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55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C077D-55D0-42D8-9B91-C868B181D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2DE742-4A55-4ECA-A00D-56AADA903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60991D-46AA-4938-8CAD-7DDA1E985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F54D7-1998-4A53-855C-619CC8C65777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78C10E-7C3E-43DE-B046-9C3B48EEB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C1F54C-6076-4420-9B21-09F187254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3E3F7-5763-4F37-ABCA-5334487A1F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15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79" y="6510528"/>
            <a:ext cx="663787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ЭТЮД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Шахматный тренажёр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937760" y="3520440"/>
            <a:ext cx="22860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Копыл Илья  ·  Группа: ИСП-43  ·  07.10.2026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МДК.02.01  ·  Технология разработки программного обеспечения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 И РЕШЕНИЕ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914400"/>
            <a:ext cx="5394960" cy="3383280"/>
          </a:xfrm>
          <a:prstGeom prst="roundRect">
            <a:avLst>
              <a:gd name="adj" fmla="val 1923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17373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Шахматисты знают теорию, но проигрывают из-за слабой тактики.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Lichess и Chess.com перегружены, англоязычны, требуют регистрации.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63640" y="914400"/>
            <a:ext cx="5394960" cy="3383280"/>
          </a:xfrm>
          <a:prstGeom prst="roundRect">
            <a:avLst>
              <a:gd name="adj" fmla="val 1923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17373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«Этюд» — лёгкий русскоязычный тренажёр.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регистрации.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играми против движка и онлайн.</a:t>
            </a:r>
            <a:endParaRPr lang="en-US" sz="18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3E7931EB-199E-4E14-B888-C1633681BD2D}"/>
              </a:ext>
            </a:extLst>
          </p:cNvPr>
          <p:cNvSpPr/>
          <p:nvPr/>
        </p:nvSpPr>
        <p:spPr>
          <a:xfrm>
            <a:off x="23079013" y="374904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82B0AFC-2F93-4A35-B6AE-2CB23C1E19DF}"/>
              </a:ext>
            </a:extLst>
          </p:cNvPr>
          <p:cNvSpPr/>
          <p:nvPr/>
        </p:nvSpPr>
        <p:spPr>
          <a:xfrm>
            <a:off x="-23581196" y="43891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7B9FC11-5F3B-465E-AA10-4A0DE9DCE122}"/>
              </a:ext>
            </a:extLst>
          </p:cNvPr>
          <p:cNvSpPr/>
          <p:nvPr/>
        </p:nvSpPr>
        <p:spPr>
          <a:xfrm>
            <a:off x="29420820" y="502920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ЦЕЛЬ И ЗАДАЧИ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Веб-тренажёр тактики с полным циклом: задача → движок → онлайн.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2011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60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Каталог 100+ задач с фильтрами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Тренажёр с проверкой ходов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Интеграция Stockfish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43891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Онлайн-мультиплеер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Покрытие тестами ≥ 70%</a:t>
            </a:r>
            <a:endParaRPr lang="en-US" sz="18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53A899B6-ADA1-4A81-AFF4-91131F393A0E}"/>
              </a:ext>
            </a:extLst>
          </p:cNvPr>
          <p:cNvSpPr/>
          <p:nvPr/>
        </p:nvSpPr>
        <p:spPr>
          <a:xfrm>
            <a:off x="502920" y="-4549140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1ADF4FFC-8D5D-4E5F-BF98-929768AB7821}"/>
              </a:ext>
            </a:extLst>
          </p:cNvPr>
          <p:cNvSpPr/>
          <p:nvPr/>
        </p:nvSpPr>
        <p:spPr>
          <a:xfrm>
            <a:off x="4297680" y="-8389620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63077D1-4E9D-4562-89F1-13257DB5F8EB}"/>
              </a:ext>
            </a:extLst>
          </p:cNvPr>
          <p:cNvSpPr/>
          <p:nvPr/>
        </p:nvSpPr>
        <p:spPr>
          <a:xfrm>
            <a:off x="8092440" y="-12230100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0C08EDE5-BB97-4CDF-8908-F194D5486300}"/>
              </a:ext>
            </a:extLst>
          </p:cNvPr>
          <p:cNvSpPr/>
          <p:nvPr/>
        </p:nvSpPr>
        <p:spPr>
          <a:xfrm>
            <a:off x="502920" y="9846023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регистрации — прогресс сохраняется в браузере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1887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188720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1554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Любители 800–1600 Elo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Тренировка тактики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отработка комбинаций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11887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1188720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554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и школьники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шахмат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решение этюдов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92440" y="11887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2440" y="1188720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1554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5820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позиций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занятиях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5303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регистрации — прогресс сохраняется в браузере</a:t>
            </a:r>
            <a:endParaRPr lang="en-US" sz="15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CD6C77C1-A090-405A-A115-C5C9251FEBAB}"/>
              </a:ext>
            </a:extLst>
          </p:cNvPr>
          <p:cNvSpPr/>
          <p:nvPr/>
        </p:nvSpPr>
        <p:spPr>
          <a:xfrm>
            <a:off x="-7828280" y="347472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FBE7581A-33FF-4CA5-B1D7-6401B82F8720}"/>
              </a:ext>
            </a:extLst>
          </p:cNvPr>
          <p:cNvSpPr/>
          <p:nvPr/>
        </p:nvSpPr>
        <p:spPr>
          <a:xfrm>
            <a:off x="-7828280" y="34290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/>
          <p:cNvSpPr/>
          <p:nvPr/>
        </p:nvSpPr>
        <p:spPr>
          <a:xfrm>
            <a:off x="8092440" y="10058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ФУНКЦИОНАЛЬНОСТЬ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2103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задач, фильтры по теме и сложности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10058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2103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ходов, подсказки, таймер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с ботом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66760" y="2103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Stockfish, 8 уровней (800–2850 Elo)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1 на 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Комнаты, чат, часы, реванш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Точность, среднее время, прогресс</a:t>
            </a:r>
            <a:endParaRPr lang="en-US" sz="16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F3F58F29-1A49-4E61-86BA-B8FFC6A3DCA9}"/>
              </a:ext>
            </a:extLst>
          </p:cNvPr>
          <p:cNvSpPr/>
          <p:nvPr/>
        </p:nvSpPr>
        <p:spPr>
          <a:xfrm>
            <a:off x="502920" y="14872716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B09F796C-9705-4CAD-BA40-D1722374E93E}"/>
              </a:ext>
            </a:extLst>
          </p:cNvPr>
          <p:cNvSpPr/>
          <p:nvPr/>
        </p:nvSpPr>
        <p:spPr>
          <a:xfrm>
            <a:off x="4297680" y="11032236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659FEC8F-5434-4E98-9520-07E178486E54}"/>
              </a:ext>
            </a:extLst>
          </p:cNvPr>
          <p:cNvSpPr/>
          <p:nvPr/>
        </p:nvSpPr>
        <p:spPr>
          <a:xfrm>
            <a:off x="8092440" y="7191756"/>
            <a:ext cx="109728" cy="384048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2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 animBg="1"/>
      <p:bldP spid="16" grpId="0" build="allAtOnce" animBg="1"/>
      <p:bldP spid="18" grpId="0" build="allAtOnce" animBg="1"/>
      <p:bldP spid="19" grpId="0" build="allAtOnce" animBg="1"/>
      <p:bldP spid="21" grpId="0" build="allAtOnce" animBg="1"/>
      <p:bldP spid="22" grpId="0" build="allAtOnce" animBg="1"/>
      <p:bldP spid="24" grpId="0" build="allAtOnce" animBg="1"/>
      <p:bldP spid="25" grpId="0" build="allAtOnce" animBg="1"/>
      <p:bldP spid="27" grpId="0" build="allAtOnce" animBg="1"/>
      <p:bldP spid="28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2">
            <a:extLst>
              <a:ext uri="{FF2B5EF4-FFF2-40B4-BE49-F238E27FC236}">
                <a16:creationId xmlns:a16="http://schemas.microsoft.com/office/drawing/2014/main" id="{553B2BA2-8C29-4BCD-A2D5-59D4CC5BE07C}"/>
              </a:ext>
            </a:extLst>
          </p:cNvPr>
          <p:cNvSpPr/>
          <p:nvPr/>
        </p:nvSpPr>
        <p:spPr>
          <a:xfrm>
            <a:off x="6179744" y="1623061"/>
            <a:ext cx="5664479" cy="3410710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0529" y="1180341"/>
            <a:ext cx="5664479" cy="4214621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1409700" y="4979273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задач</a:t>
            </a:r>
            <a:endParaRPr lang="en-US" sz="16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F58F101-6888-45EE-8717-8D0A25AC9B5D}"/>
              </a:ext>
            </a:extLst>
          </p:cNvPr>
          <p:cNvSpPr/>
          <p:nvPr/>
        </p:nvSpPr>
        <p:spPr>
          <a:xfrm>
            <a:off x="15844520" y="29718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A91757E-DBAE-4781-8778-CDA6F295A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12927"/>
            <a:ext cx="5546516" cy="3733801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B955DDCB-2FB5-4372-B79B-C473A72A9613}"/>
              </a:ext>
            </a:extLst>
          </p:cNvPr>
          <p:cNvGrpSpPr/>
          <p:nvPr/>
        </p:nvGrpSpPr>
        <p:grpSpPr>
          <a:xfrm>
            <a:off x="6179744" y="1614694"/>
            <a:ext cx="5664479" cy="3410710"/>
            <a:chOff x="6167399" y="1180340"/>
            <a:chExt cx="5664479" cy="3410710"/>
          </a:xfrm>
        </p:grpSpPr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60719E30-0DB1-4212-B617-AFF0599FF2E4}"/>
                </a:ext>
              </a:extLst>
            </p:cNvPr>
            <p:cNvSpPr/>
            <p:nvPr/>
          </p:nvSpPr>
          <p:spPr>
            <a:xfrm>
              <a:off x="6167399" y="1180340"/>
              <a:ext cx="5664479" cy="3410710"/>
            </a:xfrm>
            <a:prstGeom prst="roundRect">
              <a:avLst>
                <a:gd name="adj" fmla="val 3137"/>
              </a:avLst>
            </a:prstGeom>
            <a:solidFill>
              <a:srgbClr val="161B22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393114" y="4080511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Решение задачи</a:t>
              </a:r>
              <a:endParaRPr lang="en-US" sz="1600" dirty="0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167ECF17-44D8-41EE-A238-0BC9FAA43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1796" y="1269151"/>
              <a:ext cx="5439771" cy="282659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2">
            <a:extLst>
              <a:ext uri="{FF2B5EF4-FFF2-40B4-BE49-F238E27FC236}">
                <a16:creationId xmlns:a16="http://schemas.microsoft.com/office/drawing/2014/main" id="{E8822C6E-A9A3-4896-9023-84F6E395ABDD}"/>
              </a:ext>
            </a:extLst>
          </p:cNvPr>
          <p:cNvSpPr/>
          <p:nvPr/>
        </p:nvSpPr>
        <p:spPr>
          <a:xfrm>
            <a:off x="430529" y="877061"/>
            <a:ext cx="5732146" cy="4517901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F58F101-6888-45EE-8717-8D0A25AC9B5D}"/>
              </a:ext>
            </a:extLst>
          </p:cNvPr>
          <p:cNvSpPr/>
          <p:nvPr/>
        </p:nvSpPr>
        <p:spPr>
          <a:xfrm>
            <a:off x="25636220" y="29718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08F12AFD-364C-4820-8D82-8D803A70D53D}"/>
              </a:ext>
            </a:extLst>
          </p:cNvPr>
          <p:cNvSpPr/>
          <p:nvPr/>
        </p:nvSpPr>
        <p:spPr>
          <a:xfrm>
            <a:off x="15844520" y="877061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E4F2BAA2-F75E-4593-8460-B03F57473461}"/>
              </a:ext>
            </a:extLst>
          </p:cNvPr>
          <p:cNvSpPr/>
          <p:nvPr/>
        </p:nvSpPr>
        <p:spPr>
          <a:xfrm>
            <a:off x="-17404080" y="1562861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6D83B4A-A772-4FA7-995C-2F166C12BB1A}"/>
              </a:ext>
            </a:extLst>
          </p:cNvPr>
          <p:cNvSpPr/>
          <p:nvPr/>
        </p:nvSpPr>
        <p:spPr>
          <a:xfrm>
            <a:off x="-27576780" y="4991861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1C92E9F-EF61-4B06-A0FE-4AA8949A4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1" y="1083363"/>
            <a:ext cx="5597192" cy="375990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69FC516-200D-4656-8A23-30FBAD3F941F}"/>
              </a:ext>
            </a:extLst>
          </p:cNvPr>
          <p:cNvSpPr txBox="1"/>
          <p:nvPr/>
        </p:nvSpPr>
        <p:spPr>
          <a:xfrm>
            <a:off x="-12795885" y="4925947"/>
            <a:ext cx="32184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8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ботом</a:t>
            </a:r>
            <a:endParaRPr lang="en-US" sz="180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59D3D6CC-E7DD-4344-8E2A-03A4C8F452F6}"/>
              </a:ext>
            </a:extLst>
          </p:cNvPr>
          <p:cNvSpPr/>
          <p:nvPr/>
        </p:nvSpPr>
        <p:spPr>
          <a:xfrm>
            <a:off x="6332144" y="1562861"/>
            <a:ext cx="5664479" cy="3586368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5FA73F-2C0B-4CD9-B73E-A426757864DC}"/>
              </a:ext>
            </a:extLst>
          </p:cNvPr>
          <p:cNvSpPr txBox="1"/>
          <p:nvPr/>
        </p:nvSpPr>
        <p:spPr>
          <a:xfrm>
            <a:off x="8380952" y="4766618"/>
            <a:ext cx="1566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Мультиплеер</a:t>
            </a:r>
            <a:endParaRPr lang="ru-RU" dirty="0"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958FCD1C-F041-480B-AB0A-490915446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956" y="1701488"/>
            <a:ext cx="5364479" cy="315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735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2">
            <a:extLst>
              <a:ext uri="{FF2B5EF4-FFF2-40B4-BE49-F238E27FC236}">
                <a16:creationId xmlns:a16="http://schemas.microsoft.com/office/drawing/2014/main" id="{E8822C6E-A9A3-4896-9023-84F6E395ABDD}"/>
              </a:ext>
            </a:extLst>
          </p:cNvPr>
          <p:cNvSpPr/>
          <p:nvPr/>
        </p:nvSpPr>
        <p:spPr>
          <a:xfrm>
            <a:off x="880160" y="672085"/>
            <a:ext cx="2750821" cy="5820155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F58F101-6888-45EE-8717-8D0A25AC9B5D}"/>
              </a:ext>
            </a:extLst>
          </p:cNvPr>
          <p:cNvSpPr/>
          <p:nvPr/>
        </p:nvSpPr>
        <p:spPr>
          <a:xfrm>
            <a:off x="25636220" y="29718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08F12AFD-364C-4820-8D82-8D803A70D53D}"/>
              </a:ext>
            </a:extLst>
          </p:cNvPr>
          <p:cNvSpPr/>
          <p:nvPr/>
        </p:nvSpPr>
        <p:spPr>
          <a:xfrm>
            <a:off x="15844520" y="877061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E4F2BAA2-F75E-4593-8460-B03F57473461}"/>
              </a:ext>
            </a:extLst>
          </p:cNvPr>
          <p:cNvSpPr/>
          <p:nvPr/>
        </p:nvSpPr>
        <p:spPr>
          <a:xfrm>
            <a:off x="-17404080" y="1562861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6D83B4A-A772-4FA7-995C-2F166C12BB1A}"/>
              </a:ext>
            </a:extLst>
          </p:cNvPr>
          <p:cNvSpPr/>
          <p:nvPr/>
        </p:nvSpPr>
        <p:spPr>
          <a:xfrm>
            <a:off x="-27576780" y="4991861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59D3D6CC-E7DD-4344-8E2A-03A4C8F452F6}"/>
              </a:ext>
            </a:extLst>
          </p:cNvPr>
          <p:cNvSpPr/>
          <p:nvPr/>
        </p:nvSpPr>
        <p:spPr>
          <a:xfrm>
            <a:off x="4031921" y="763524"/>
            <a:ext cx="7510853" cy="5747004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5FA73F-2C0B-4CD9-B73E-A426757864DC}"/>
              </a:ext>
            </a:extLst>
          </p:cNvPr>
          <p:cNvSpPr txBox="1"/>
          <p:nvPr/>
        </p:nvSpPr>
        <p:spPr>
          <a:xfrm>
            <a:off x="6550068" y="6060875"/>
            <a:ext cx="1583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1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29061A0-CE94-4A3A-80D3-71938589E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51" y="808101"/>
            <a:ext cx="2305076" cy="520369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75856E4-D7CC-4B83-AA6E-85132754DF9C}"/>
              </a:ext>
            </a:extLst>
          </p:cNvPr>
          <p:cNvSpPr txBox="1"/>
          <p:nvPr/>
        </p:nvSpPr>
        <p:spPr>
          <a:xfrm>
            <a:off x="403852" y="6040612"/>
            <a:ext cx="3703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</a:t>
            </a:r>
            <a:endParaRPr lang="en-US" sz="1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1E96ECF-6FF6-42E1-88F8-86D65BDE4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655" y="903889"/>
            <a:ext cx="7176276" cy="520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42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СТЕК ТЕХНОЛОГИЙ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9144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024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16002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709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17099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2860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Шахматы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46120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chess.js 1.4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29718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46120" y="3081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WASM (Web Worker)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46120" y="37673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WebSocket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43434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453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46120" y="4453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2920" y="50292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46120" y="51389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 — точка входа, глобальный state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155448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PuzzleCatalog · PuzzleSolver · BotGame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MultiplayerGame · StatsView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155448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26280" y="246888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(переиспользуется в 3 экранах)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ErrorToast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55448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Утилиты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21040" y="246888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stockfish · chessEngineFallback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· exceptions · logger</a:t>
            </a:r>
            <a:endParaRPr lang="en-US" sz="15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A8932DF8-8D42-48B4-BD51-6F10845C93DB}"/>
              </a:ext>
            </a:extLst>
          </p:cNvPr>
          <p:cNvSpPr/>
          <p:nvPr/>
        </p:nvSpPr>
        <p:spPr>
          <a:xfrm>
            <a:off x="3383280" y="-3241548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C89C02BA-7BC0-4E68-BA8C-327977B25107}"/>
              </a:ext>
            </a:extLst>
          </p:cNvPr>
          <p:cNvSpPr/>
          <p:nvPr/>
        </p:nvSpPr>
        <p:spPr>
          <a:xfrm>
            <a:off x="6263640" y="-3241548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ТЕСТИРОВАНИЕ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0058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unit-тестов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10058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5204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строк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10058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93.15%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ветвей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0" y="10058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98.77%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2811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функций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1115568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566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багов:  4     ·     Исправлено:  4 (100%)     ·     Критических:  1 (storage.ts)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Плотность багов: 0.7 на 1000 строк  (лимит 5)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4754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тесты зелёные · CI на GitHub Actions проходит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5">
            <a:extLst>
              <a:ext uri="{FF2B5EF4-FFF2-40B4-BE49-F238E27FC236}">
                <a16:creationId xmlns:a16="http://schemas.microsoft.com/office/drawing/2014/main" id="{0EE9E8A3-398C-46C7-A32B-74082C8EBD4D}"/>
              </a:ext>
            </a:extLst>
          </p:cNvPr>
          <p:cNvSpPr/>
          <p:nvPr/>
        </p:nvSpPr>
        <p:spPr>
          <a:xfrm>
            <a:off x="9144000" y="3840479"/>
            <a:ext cx="2743200" cy="1645921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417FAEC6-83E6-4B61-8BE5-8C28AF98AA3B}"/>
              </a:ext>
            </a:extLst>
          </p:cNvPr>
          <p:cNvSpPr/>
          <p:nvPr/>
        </p:nvSpPr>
        <p:spPr>
          <a:xfrm>
            <a:off x="3497575" y="3887151"/>
            <a:ext cx="2545081" cy="15849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КАЧЕСТВО КОДА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Инспекция: 6 NC найдено, 5 исправлено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Магические числа вынесены в именованные константы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1965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Дублирование formatTime устранено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JSDoc добавлен к публичным функциям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2971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console.* заменены на logger.ts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3840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832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длина файла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3840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636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4000" y="3840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 KB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4400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бандл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И 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0972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10972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Веток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Merge-коммитов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Конфликтов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(учебный, разрешён)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02920" y="38404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+ GitHub Release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263640" y="38404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зелёный</a:t>
            </a:r>
            <a:endParaRPr lang="en-US" sz="200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3576EA1F-ADF0-4E74-8FF3-17F4D95315B3}"/>
              </a:ext>
            </a:extLst>
          </p:cNvPr>
          <p:cNvSpPr/>
          <p:nvPr/>
        </p:nvSpPr>
        <p:spPr>
          <a:xfrm>
            <a:off x="-8031480" y="3200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CE001F38-E025-4097-8A57-589575034634}"/>
              </a:ext>
            </a:extLst>
          </p:cNvPr>
          <p:cNvSpPr/>
          <p:nvPr/>
        </p:nvSpPr>
        <p:spPr>
          <a:xfrm>
            <a:off x="14366240" y="3200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ДОКУМЕНТАЦИЯ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914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097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проекта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914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097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user-guide.md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пользователя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2057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install-guide.md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2057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версий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quality-metrics.md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3200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git-strategy.md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ветвления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4343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debug-report.md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724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об отладке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inspection-report.md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37960" y="4846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об инспекции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9144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Каталог 117 задач + тренажёр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Бот (Stockfish) + мультиплеер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35 тестов, покрытие 99.38%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CI + тег v1.0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Полная документация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4 бага исправлено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15 из 16 метрик в норме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9144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СДЕЛАНО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Регистрация и профиль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Ежедневная задача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2697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Импорт из Lichess</a:t>
            </a:r>
            <a:endParaRPr lang="en-US" sz="15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73864C87-720C-431F-B856-FACA350BE8DE}"/>
              </a:ext>
            </a:extLst>
          </p:cNvPr>
          <p:cNvSpPr/>
          <p:nvPr/>
        </p:nvSpPr>
        <p:spPr>
          <a:xfrm>
            <a:off x="13169736" y="14630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762D0399-2AE2-4B09-9048-9B27CBAFC109}"/>
              </a:ext>
            </a:extLst>
          </p:cNvPr>
          <p:cNvSpPr/>
          <p:nvPr/>
        </p:nvSpPr>
        <p:spPr>
          <a:xfrm>
            <a:off x="-14859000" y="37947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DA68DE6D-ACA3-419B-98BF-94554327336B}"/>
              </a:ext>
            </a:extLst>
          </p:cNvPr>
          <p:cNvSpPr/>
          <p:nvPr/>
        </p:nvSpPr>
        <p:spPr>
          <a:xfrm>
            <a:off x="21782794" y="45720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ПЛАНЫ РАЗВИТИЯ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"/>
            <a:ext cx="11185855" cy="1371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ЭТЮД  ·  Шахматный тренажёр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14630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1600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профиль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22402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7452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Ежедневная задача + streak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74520" y="3154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достижений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31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74520" y="3931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задач из Lichess API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" y="45720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87452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Elo и турниры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937760" y="2697480"/>
            <a:ext cx="22860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github.com/Nervok156/etude-chess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web-production-05bd8.up.railway.app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654</Words>
  <Application>Microsoft Office PowerPoint</Application>
  <PresentationFormat>Широкоэкранный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Этюд — Шахматный тренажёр</dc:title>
  <dc:subject>Защита практики МДК.02.01</dc:subject>
  <dc:creator>Копыл Илья</dc:creator>
  <cp:lastModifiedBy>Admin</cp:lastModifiedBy>
  <cp:revision>14</cp:revision>
  <dcterms:created xsi:type="dcterms:W3CDTF">2026-10-07T08:24:28Z</dcterms:created>
  <dcterms:modified xsi:type="dcterms:W3CDTF">2026-10-07T12:02:02Z</dcterms:modified>
</cp:coreProperties>
</file>